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73" r:id="rId7"/>
    <p:sldId id="274" r:id="rId8"/>
    <p:sldId id="275" r:id="rId9"/>
    <p:sldId id="276" r:id="rId10"/>
    <p:sldId id="277" r:id="rId11"/>
    <p:sldId id="278" r:id="rId12"/>
    <p:sldId id="281" r:id="rId13"/>
    <p:sldId id="282" r:id="rId14"/>
    <p:sldId id="279" r:id="rId15"/>
    <p:sldId id="280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6/13/2026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6/13/2026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6/13/2026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Hardware Design and Verification of Dilithium – Post Quantum Digital Signature Algorithm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59939" y="3356992"/>
            <a:ext cx="8735325" cy="2384214"/>
          </a:xfrm>
        </p:spPr>
        <p:txBody>
          <a:bodyPr>
            <a:normAutofit fontScale="55000" lnSpcReduction="20000"/>
          </a:bodyPr>
          <a:lstStyle/>
          <a:p>
            <a:r>
              <a:rPr lang="en-US" cap="none" dirty="0"/>
              <a:t>M.Engg. Thesis defence by</a:t>
            </a:r>
            <a:br>
              <a:rPr lang="en-US" cap="none" dirty="0"/>
            </a:br>
            <a:br>
              <a:rPr lang="en-US" dirty="0"/>
            </a:br>
            <a:r>
              <a:rPr lang="en-US" sz="3200" dirty="0">
                <a:solidFill>
                  <a:schemeClr val="tx1"/>
                </a:solidFill>
              </a:rPr>
              <a:t>MUHAMMAD ABDUL AHAD (EL-25B5008)</a:t>
            </a:r>
            <a:br>
              <a:rPr lang="en-US" dirty="0"/>
            </a:br>
            <a:br>
              <a:rPr lang="en-US" dirty="0"/>
            </a:br>
            <a:r>
              <a:rPr lang="en-US" cap="none" dirty="0"/>
              <a:t>Supervised by</a:t>
            </a:r>
            <a:br>
              <a:rPr lang="en-US" cap="none" dirty="0"/>
            </a:br>
            <a:endParaRPr lang="en-US" sz="3200" cap="none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Assistant Prof Dr. Fahim ul </a:t>
            </a:r>
            <a:r>
              <a:rPr lang="en-US" sz="3200" dirty="0" err="1">
                <a:solidFill>
                  <a:schemeClr val="tx1"/>
                </a:solidFill>
              </a:rPr>
              <a:t>haq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br>
              <a:rPr lang="en-US" sz="3200" cap="none" dirty="0"/>
            </a:br>
            <a:r>
              <a:rPr lang="en-US" sz="3200" cap="none" dirty="0"/>
              <a:t>Co-supervised by</a:t>
            </a:r>
            <a:br>
              <a:rPr lang="en-US" sz="3200" cap="none" dirty="0"/>
            </a:br>
            <a:endParaRPr lang="en-US" sz="3200" cap="none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DR . SONIYA Shafi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With the increase of data, the need for data security is also increasing.</a:t>
            </a:r>
          </a:p>
          <a:p>
            <a:r>
              <a:rPr lang="en-US" sz="2400" dirty="0"/>
              <a:t>In order to protect our data, cryptographic algorithms are used.</a:t>
            </a:r>
          </a:p>
          <a:p>
            <a:r>
              <a:rPr lang="en-US" sz="2400" dirty="0"/>
              <a:t>Although these algorithms are too hard to solve for classical computers, quantum computers are able to solve them.</a:t>
            </a:r>
          </a:p>
          <a:p>
            <a:r>
              <a:rPr lang="en-US" sz="2400" dirty="0"/>
              <a:t>Since quantum computers are not yet standardized, this creates a threat called </a:t>
            </a:r>
            <a:r>
              <a:rPr lang="en-US" sz="2400" b="1" dirty="0"/>
              <a:t>“Harvest Now, Decrypt Later.”</a:t>
            </a:r>
            <a:endParaRPr lang="en-US" sz="2400" dirty="0"/>
          </a:p>
          <a:p>
            <a:r>
              <a:rPr lang="en-US" sz="2400" dirty="0"/>
              <a:t>In order to combat this issue, </a:t>
            </a:r>
            <a:r>
              <a:rPr lang="en-US" sz="2400" b="1" dirty="0"/>
              <a:t>post-quantum algorithms</a:t>
            </a:r>
            <a:r>
              <a:rPr lang="en-US" sz="2400" dirty="0"/>
              <a:t> exist.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D3649-EFFC-02AC-C772-DCD945E25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96CB-62F9-39F8-6D39-7A634888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00" y="332656"/>
            <a:ext cx="4062942" cy="810592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is Dilithium?</a:t>
            </a:r>
            <a:endParaRPr lang="en-PK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563E1-1CD1-B6F9-11FC-09ED93F07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8889" y="1412776"/>
            <a:ext cx="4242124" cy="458292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Dilithium is a post-quantum digital signature algorithm.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digital signature ensures three things: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Authentication – Verifies who sent the message.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Integrity – Ensures the message was not changed.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Non-repudiation – Sender cannot deny sending the message.</a:t>
            </a:r>
          </a:p>
          <a:p>
            <a:endParaRPr lang="en-PK" sz="2400" dirty="0"/>
          </a:p>
        </p:txBody>
      </p:sp>
      <p:pic>
        <p:nvPicPr>
          <p:cNvPr id="3076" name="Picture 4" descr="What is Digital Signature Algorithm ? | by Blockchain Behind The Scenes |  Medium">
            <a:extLst>
              <a:ext uri="{FF2B5EF4-FFF2-40B4-BE49-F238E27FC236}">
                <a16:creationId xmlns:a16="http://schemas.microsoft.com/office/drawing/2014/main" id="{F544D5F5-B23D-63EE-0165-0284747CA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396" y="1417225"/>
            <a:ext cx="5732717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68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975E-860D-6646-38DB-C172C724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00FDE62-58DD-D34A-1D60-31C6EC1C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makes Dilithium post-quantum?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B12B221-DEE4-54F8-8F5D-F6413EDE4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Based on lattice problems  (for e.g. Shortest Vector , closest vector)</a:t>
            </a:r>
          </a:p>
          <a:p>
            <a:r>
              <a:rPr lang="en-US" sz="2400" dirty="0"/>
              <a:t>Extremely difficult to solve in high dimensions.</a:t>
            </a:r>
          </a:p>
          <a:p>
            <a:r>
              <a:rPr lang="en-US" sz="2400" dirty="0"/>
              <a:t>Not vulnerable to Shor’s algorithm</a:t>
            </a:r>
          </a:p>
          <a:p>
            <a:r>
              <a:rPr lang="en-US" sz="2400" dirty="0"/>
              <a:t>Standardized by NIST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4470B-454D-0A61-04B5-9D71CEAB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2" name="Picture 6" descr="Keystone of Post-Quantum Cryptography">
            <a:extLst>
              <a:ext uri="{FF2B5EF4-FFF2-40B4-BE49-F238E27FC236}">
                <a16:creationId xmlns:a16="http://schemas.microsoft.com/office/drawing/2014/main" id="{0026BBA5-C3CC-99B8-0AD0-4E8A1811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620" y="2852936"/>
            <a:ext cx="2880320" cy="289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29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C239-9215-EAD3-052C-784A231A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91D3130-42F6-BBCA-A0D7-14166A27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Literature Review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F161D2-02F3-70ED-6A34-50CC1D23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Quantum Threats: Classical schemes (RSA, ECC) vulnerable to quantum attacks (Shor’s algorithm) → motivates PQC [1].</a:t>
            </a:r>
          </a:p>
          <a:p>
            <a:r>
              <a:rPr lang="en-US" sz="2100" dirty="0"/>
              <a:t>Lattice Cryptography: Bernstein et al.: lattice-based schemes secure &amp; efficient; rely on hard problems like LWE [3].</a:t>
            </a:r>
          </a:p>
          <a:p>
            <a:r>
              <a:rPr lang="en-US" sz="2100" dirty="0"/>
              <a:t>Dilithium Design: Ducas et al.: strong unforgeability, practical key/signature sizes, uses polynomial arithmetic &amp; NTT [2].</a:t>
            </a:r>
          </a:p>
          <a:p>
            <a:r>
              <a:rPr lang="en-US" sz="2100" dirty="0"/>
              <a:t>Software Challenges: Microcontroller/embedded implementations → high latency, memory use, energy consumption.</a:t>
            </a:r>
          </a:p>
          <a:p>
            <a:r>
              <a:rPr lang="en-US" sz="2100" dirty="0"/>
              <a:t>hardware outperforms general-purpose processors. Research Gap: Need modular, resource-efficient, verifiable hardware → addressed in this work.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01A72-9778-5EB0-6501-A7A6800C1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3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1D46-01B1-B062-3BC6-27D785DAF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7565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PROBLEM STATEMENT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36F7C-E9E0-4C0F-2E56-E243F2D1A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934" y="1484784"/>
            <a:ext cx="8735325" cy="1731888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>
                <a:solidFill>
                  <a:schemeClr val="tx1"/>
                </a:solidFill>
              </a:rPr>
              <a:t>Software based implementations of CRYSTALS Dilithium suffer from high computational complexity, increased latency, and elevated power consumption</a:t>
            </a:r>
            <a:endParaRPr lang="en-PK" sz="2400" cap="none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C48F6D-D638-85F7-22E5-0DD3D9C99C84}"/>
              </a:ext>
            </a:extLst>
          </p:cNvPr>
          <p:cNvSpPr txBox="1">
            <a:spLocks/>
          </p:cNvSpPr>
          <p:nvPr/>
        </p:nvSpPr>
        <p:spPr>
          <a:xfrm>
            <a:off x="1625176" y="2838388"/>
            <a:ext cx="8735325" cy="756568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OBJECTIVE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DF0CE77-C18A-03C8-0C43-D2CD0A197162}"/>
              </a:ext>
            </a:extLst>
          </p:cNvPr>
          <p:cNvSpPr txBox="1">
            <a:spLocks/>
          </p:cNvSpPr>
          <p:nvPr/>
        </p:nvSpPr>
        <p:spPr>
          <a:xfrm>
            <a:off x="1643934" y="3704332"/>
            <a:ext cx="8914974" cy="1731888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none" dirty="0">
                <a:solidFill>
                  <a:schemeClr val="tx1"/>
                </a:solidFill>
              </a:rPr>
              <a:t>Design and verify an efficient hardware architecture for Dilithium, implement key modules (polynomial arithmetic &amp; NTT), and evaluate latency, area, and power.</a:t>
            </a:r>
            <a:endParaRPr lang="en-PK" sz="24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72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BF68-23D5-1E25-4402-747CB0B4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630D81F-DD27-D0DC-A5BB-2B3A0AFA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BA662F-8CDE-A7A0-F05D-50BAE0F3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Algorithm Analysis: Study reference C implementation to identify computational bottlenecks.</a:t>
            </a:r>
          </a:p>
          <a:p>
            <a:r>
              <a:rPr lang="en-US" sz="2100" dirty="0"/>
              <a:t>Architectural Decomposition: Break down key modules into dedicated hardware blocks</a:t>
            </a:r>
          </a:p>
          <a:p>
            <a:r>
              <a:rPr lang="en-US" sz="2100" dirty="0"/>
              <a:t>RTL Design &amp; Integration: Implement modules in Verilog and integrate into full hardware design.</a:t>
            </a:r>
          </a:p>
          <a:p>
            <a:r>
              <a:rPr lang="en-US" sz="2100" dirty="0"/>
              <a:t>Functional Verification: Testbench-driven simulation to ensure correctness.</a:t>
            </a:r>
          </a:p>
          <a:p>
            <a:r>
              <a:rPr lang="en-US" sz="2100" dirty="0"/>
              <a:t>Performance Evaluation: Use FPGA synthesis tools to measure Latency , Resource utilization and Power consumption</a:t>
            </a:r>
          </a:p>
          <a:p>
            <a:r>
              <a:rPr lang="en-US" sz="2100" dirty="0"/>
              <a:t>Research Hypothesis: Hardware acceleration significantly improves Dilithium performance compared to software on embedded processors.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A75BF6-9D2A-5604-59D4-BD4850818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4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253C-61ED-95EB-83F6-02E8840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892D-7999-15A6-E547-43B3116D9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0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GANTT CHART</a:t>
            </a:r>
            <a:endParaRPr lang="en-PK" sz="3600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2977B-5F06-12E1-E0CA-469A0EF3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775054"/>
            <a:ext cx="7692684" cy="57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9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D64AA-267F-366E-BA3E-D523651A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1E34-D618-69B6-B223-550584769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0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Methodology</a:t>
            </a:r>
            <a:endParaRPr lang="en-PK" sz="3600" dirty="0">
              <a:solidFill>
                <a:schemeClr val="accent1"/>
              </a:solidFill>
            </a:endParaRPr>
          </a:p>
        </p:txBody>
      </p:sp>
      <p:pic>
        <p:nvPicPr>
          <p:cNvPr id="3" name="f2" descr="Figure 2&#10;Methodology of the thesis: analysis of the reference model, per-module RTL design and verification, followed by evaluation and benchmarking.">
            <a:extLst>
              <a:ext uri="{FF2B5EF4-FFF2-40B4-BE49-F238E27FC236}">
                <a16:creationId xmlns:a16="http://schemas.microsoft.com/office/drawing/2014/main" id="{DCB4C506-2446-923E-A36A-E008C4184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61964" y="770383"/>
            <a:ext cx="6984777" cy="58269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737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A20C-7563-087C-658C-9299E253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BC4C-96EA-F45C-8CAC-FBB75059B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34506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chemeClr val="accent1"/>
                </a:solidFill>
              </a:rPr>
              <a:t>Dilithium</a:t>
            </a:r>
            <a:r>
              <a:rPr lang="en-US" sz="3600" dirty="0">
                <a:solidFill>
                  <a:schemeClr val="accent1"/>
                </a:solidFill>
              </a:rPr>
              <a:t> High-Level Architecture</a:t>
            </a:r>
            <a:endParaRPr lang="en-PK" sz="36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32EA7-F5C3-DF67-8C83-9EF34FEA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80" y="791074"/>
            <a:ext cx="6706536" cy="5553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ECE4F-8045-73FF-FAAE-EBBC0C417926}"/>
              </a:ext>
            </a:extLst>
          </p:cNvPr>
          <p:cNvSpPr txBox="1"/>
          <p:nvPr/>
        </p:nvSpPr>
        <p:spPr>
          <a:xfrm>
            <a:off x="9334772" y="5589240"/>
            <a:ext cx="208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Fig. </a:t>
            </a:r>
            <a:r>
              <a:rPr lang="en-US" sz="1200" dirty="0" err="1"/>
              <a:t>Dilithium</a:t>
            </a:r>
            <a:r>
              <a:rPr lang="en-US" sz="1200" dirty="0"/>
              <a:t> High-Level Architecture. Reproduced from [4]</a:t>
            </a:r>
          </a:p>
        </p:txBody>
      </p:sp>
    </p:spTree>
    <p:extLst>
      <p:ext uri="{BB962C8B-B14F-4D97-AF65-F5344CB8AC3E}">
        <p14:creationId xmlns:p14="http://schemas.microsoft.com/office/powerpoint/2010/main" val="3478977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FD9F-2D9F-8CD7-F1BD-23020CE9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5AFC0B-E497-1E04-00E8-B53B0FF9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References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45B905-960D-ADB2-C6E8-FA27E4FF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391499"/>
          </a:xfrm>
        </p:spPr>
        <p:txBody>
          <a:bodyPr>
            <a:normAutofit/>
          </a:bodyPr>
          <a:lstStyle/>
          <a:p>
            <a:endParaRPr lang="en-US" sz="21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National Institute of Standards and Technology, Post Quantum Cryptography Standardization Project, NIST, 2022.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Ducas, L., Kiltz, E., </a:t>
            </a:r>
            <a:r>
              <a:rPr lang="en-US" sz="1400" dirty="0" err="1"/>
              <a:t>Lepoint</a:t>
            </a:r>
            <a:r>
              <a:rPr lang="en-US" sz="1400" dirty="0"/>
              <a:t>, T., </a:t>
            </a:r>
            <a:r>
              <a:rPr lang="en-US" sz="1400" dirty="0" err="1"/>
              <a:t>Lyubashevsky</a:t>
            </a:r>
            <a:r>
              <a:rPr lang="en-US" sz="1400" dirty="0"/>
              <a:t>, V., Schwabe, P., Seiler, G., and </a:t>
            </a:r>
            <a:r>
              <a:rPr lang="en-US" sz="1400" dirty="0" err="1"/>
              <a:t>Stehlé</a:t>
            </a:r>
            <a:r>
              <a:rPr lang="en-US" sz="1400" dirty="0"/>
              <a:t>, D., CRYSTALS Dilithium: Algorithm Specifications and Supporting Documentation, NIST PQC Round 3, 2020.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Bernstein, D. J., Buchmann, J., and Dahmen, E., Post Quantum Cryptography, Springer, Berlin, 2009.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P. Sun, Q. Wang, and M. Ikeda, "PALS: A High-Speed ML-DSA Hardware Accelerator with Enhanced Pipeline on FPGA," in Proc. IEEE Int. Conf. Integrated Circuits, Technologies and Applications (ICTA), 2025, pp. 141–142, </a:t>
            </a:r>
            <a:r>
              <a:rPr lang="en-US" sz="1400" dirty="0" err="1"/>
              <a:t>doi</a:t>
            </a:r>
            <a:r>
              <a:rPr lang="en-US" sz="1400" dirty="0"/>
              <a:t>: 10.1109/ICTA68203.2025.11330133.</a:t>
            </a:r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0959D-A723-FE5A-BB7D-4D67BA45C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3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55D6-5057-6B8B-D43F-AF007EAC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068" y="2204864"/>
            <a:ext cx="5832647" cy="1512168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 ! </a:t>
            </a:r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PK" sz="6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82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306</TotalTime>
  <Words>685</Words>
  <Application>Microsoft Office PowerPoint</Application>
  <PresentationFormat>Custom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Tech 16x9</vt:lpstr>
      <vt:lpstr>Hardware Design and Verification of Dilithium – Post Quantum Digital Signature Algorithm</vt:lpstr>
      <vt:lpstr> Background</vt:lpstr>
      <vt:lpstr>What is Dilithium?</vt:lpstr>
      <vt:lpstr> What makes Dilithium post-quantum?</vt:lpstr>
      <vt:lpstr> Literature Review</vt:lpstr>
      <vt:lpstr>PROBLEM STATEMENT</vt:lpstr>
      <vt:lpstr> Methodology</vt:lpstr>
      <vt:lpstr>GANTT CHART</vt:lpstr>
      <vt:lpstr>Methodology</vt:lpstr>
      <vt:lpstr>Dilithium High-Level Architecture</vt:lpstr>
      <vt:lpstr> References</vt:lpstr>
      <vt:lpstr>THANK YOU 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 Ahad</dc:creator>
  <cp:lastModifiedBy>K2 - Muhammad Abdul Ahad | Laser (Engineer)</cp:lastModifiedBy>
  <cp:revision>15</cp:revision>
  <dcterms:created xsi:type="dcterms:W3CDTF">2026-01-21T20:32:26Z</dcterms:created>
  <dcterms:modified xsi:type="dcterms:W3CDTF">2026-06-13T12:05:32Z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