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68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72" d="100"/>
          <a:sy n="72" d="100"/>
        </p:scale>
        <p:origin x="798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1/22/2026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1/22/2026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1/22/2026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1/22/2026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1/22/2026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Hardware Design and Verification of Dilithium – Post Quantum Digital Signature Algorithm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41884" y="3573016"/>
            <a:ext cx="8735325" cy="1752600"/>
          </a:xfrm>
        </p:spPr>
        <p:txBody>
          <a:bodyPr>
            <a:normAutofit fontScale="62500" lnSpcReduction="20000"/>
          </a:bodyPr>
          <a:lstStyle/>
          <a:p>
            <a:r>
              <a:rPr lang="en-US" cap="none" dirty="0"/>
              <a:t>M.Engg. Thesis defence by</a:t>
            </a:r>
            <a:br>
              <a:rPr lang="en-US" cap="none" dirty="0"/>
            </a:br>
            <a:br>
              <a:rPr lang="en-US" dirty="0"/>
            </a:br>
            <a:r>
              <a:rPr lang="en-US" sz="3200" dirty="0">
                <a:solidFill>
                  <a:schemeClr val="tx1"/>
                </a:solidFill>
              </a:rPr>
              <a:t>MUHAMMAD ABDUL AHAD (EL-25B5008)</a:t>
            </a:r>
            <a:br>
              <a:rPr lang="en-US" dirty="0"/>
            </a:br>
            <a:br>
              <a:rPr lang="en-US" dirty="0"/>
            </a:br>
            <a:r>
              <a:rPr lang="en-US" cap="none" dirty="0"/>
              <a:t>Supervised by</a:t>
            </a:r>
            <a:br>
              <a:rPr lang="en-US" cap="none" dirty="0"/>
            </a:br>
            <a:endParaRPr lang="en-US" sz="3200" cap="none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Assistant Prof Dr. Fahim ul haq 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Background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With the increase of data, the need for data security is also increasing.</a:t>
            </a:r>
          </a:p>
          <a:p>
            <a:r>
              <a:rPr lang="en-US" sz="2400" dirty="0"/>
              <a:t>In order to protect our data, cryptographic algorithms are used.</a:t>
            </a:r>
          </a:p>
          <a:p>
            <a:r>
              <a:rPr lang="en-US" sz="2400" dirty="0"/>
              <a:t>Although these algorithms are too hard to solve for classical computers, quantum computers are able to solve them.</a:t>
            </a:r>
          </a:p>
          <a:p>
            <a:r>
              <a:rPr lang="en-US" sz="2400" dirty="0"/>
              <a:t>Since quantum computers are not yet standardized, this creates a threat called </a:t>
            </a:r>
            <a:r>
              <a:rPr lang="en-US" sz="2400" b="1" dirty="0"/>
              <a:t>“Harvest Now, Decrypt Later.”</a:t>
            </a:r>
            <a:endParaRPr lang="en-US" sz="2400" dirty="0"/>
          </a:p>
          <a:p>
            <a:r>
              <a:rPr lang="en-US" sz="2400" dirty="0"/>
              <a:t>In order to combat this issue, </a:t>
            </a:r>
            <a:r>
              <a:rPr lang="en-US" sz="2400" b="1" dirty="0"/>
              <a:t>post-quantum algorithms</a:t>
            </a:r>
            <a:r>
              <a:rPr lang="en-US" sz="2400" dirty="0"/>
              <a:t> exist.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9D3649-EFFC-02AC-C772-DCD945E25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schemes (RSA, ECC) rely on </a:t>
            </a: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math problems</a:t>
            </a: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796CB-62F9-39F8-6D39-7A634888A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200" y="332656"/>
            <a:ext cx="4062942" cy="810592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What is Dilithium?</a:t>
            </a:r>
            <a:endParaRPr lang="en-PK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563E1-1CD1-B6F9-11FC-09ED93F07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8889" y="1412776"/>
            <a:ext cx="4242124" cy="4582922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Dilithium is a post-quantum digital signature algorithm.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digital signature ensures three things: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Authentication – Verifies who sent the message.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Integrity – Ensures the message was not changed.</a:t>
            </a:r>
          </a:p>
          <a:p>
            <a:pPr marL="895243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Non-repudiation – Sender cannot deny sending the message.</a:t>
            </a:r>
          </a:p>
          <a:p>
            <a:endParaRPr lang="en-PK" sz="2400" dirty="0"/>
          </a:p>
        </p:txBody>
      </p:sp>
      <p:pic>
        <p:nvPicPr>
          <p:cNvPr id="3076" name="Picture 4" descr="What is Digital Signature Algorithm ? | by Blockchain Behind The Scenes |  Medium">
            <a:extLst>
              <a:ext uri="{FF2B5EF4-FFF2-40B4-BE49-F238E27FC236}">
                <a16:creationId xmlns:a16="http://schemas.microsoft.com/office/drawing/2014/main" id="{F544D5F5-B23D-63EE-0165-0284747CA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396" y="1417225"/>
            <a:ext cx="5732717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68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975E-860D-6646-38DB-C172C7242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00FDE62-58DD-D34A-1D60-31C6EC1C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What makes Dilithium post-quantum?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B12B221-DEE4-54F8-8F5D-F6413EDE4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Based on lattice problems  (for e.g. Shortest Vector , closest vector)</a:t>
            </a:r>
          </a:p>
          <a:p>
            <a:r>
              <a:rPr lang="en-US" sz="2400" dirty="0"/>
              <a:t>Extremely difficult to solve in high dimensions.</a:t>
            </a:r>
          </a:p>
          <a:p>
            <a:r>
              <a:rPr lang="en-US" sz="2400" dirty="0"/>
              <a:t>Not vulnerable to Shor’s algorithm</a:t>
            </a:r>
          </a:p>
          <a:p>
            <a:r>
              <a:rPr lang="en-US" sz="2400" dirty="0"/>
              <a:t>Standardized by NIST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A4470B-454D-0A61-04B5-9D71CEABD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schemes (RSA, ECC) rely on </a:t>
            </a: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math problems</a:t>
            </a: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2" name="Picture 6" descr="Keystone of Post-Quantum Cryptography">
            <a:extLst>
              <a:ext uri="{FF2B5EF4-FFF2-40B4-BE49-F238E27FC236}">
                <a16:creationId xmlns:a16="http://schemas.microsoft.com/office/drawing/2014/main" id="{0026BBA5-C3CC-99B8-0AD0-4E8A18111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620" y="2852936"/>
            <a:ext cx="2880320" cy="289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29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CC239-9215-EAD3-052C-784A231AA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91D3130-42F6-BBCA-A0D7-14166A27F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Literature Review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AF161D2-02F3-70ED-6A34-50CC1D230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Quantum Threats: Classical schemes (RSA, ECC) vulnerable to quantum attacks (Shor’s algorithm) → motivates PQC [1].</a:t>
            </a:r>
          </a:p>
          <a:p>
            <a:r>
              <a:rPr lang="en-US" sz="2100" dirty="0"/>
              <a:t>Lattice Cryptography: Bernstein et al.: lattice-based schemes secure &amp; efficient; rely on hard problems like LWE [3].</a:t>
            </a:r>
          </a:p>
          <a:p>
            <a:r>
              <a:rPr lang="en-US" sz="2100" dirty="0"/>
              <a:t>Dilithium Design: Ducas et al.: strong unforgeability, practical key/signature sizes, uses polynomial arithmetic &amp; NTT [2].</a:t>
            </a:r>
          </a:p>
          <a:p>
            <a:r>
              <a:rPr lang="en-US" sz="2100" dirty="0"/>
              <a:t>Software Challenges: Microcontroller/embedded implementations → high latency, memory use, energy consumption.</a:t>
            </a:r>
          </a:p>
          <a:p>
            <a:r>
              <a:rPr lang="en-US" sz="2100" dirty="0"/>
              <a:t>hardware outperforms general-purpose processors. Research Gap: Need modular, resource-efficient, verifiable hardware → addressed in this work.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501A72-9778-5EB0-6501-A7A6800C1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schemes (RSA, ECC) rely on </a:t>
            </a: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math problems</a:t>
            </a: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635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51D46-01B1-B062-3BC6-27D785DAF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176" y="584201"/>
            <a:ext cx="8735325" cy="75656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PROBLEM STATEMENT</a:t>
            </a:r>
            <a:endParaRPr lang="en-PK" sz="3600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B36F7C-E9E0-4C0F-2E56-E243F2D1A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3934" y="1484784"/>
            <a:ext cx="8735325" cy="1731888"/>
          </a:xfrm>
        </p:spPr>
        <p:txBody>
          <a:bodyPr>
            <a:normAutofit/>
          </a:bodyPr>
          <a:lstStyle/>
          <a:p>
            <a:pPr algn="just"/>
            <a:r>
              <a:rPr lang="en-US" sz="2400" cap="none" dirty="0">
                <a:solidFill>
                  <a:schemeClr val="tx1"/>
                </a:solidFill>
              </a:rPr>
              <a:t>Software based implementations of CRYSTALS Dilithium suffer from high computational complexity, increased latency, and elevated power consumption</a:t>
            </a:r>
            <a:endParaRPr lang="en-PK" sz="2400" cap="none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C48F6D-D638-85F7-22E5-0DD3D9C99C84}"/>
              </a:ext>
            </a:extLst>
          </p:cNvPr>
          <p:cNvSpPr txBox="1">
            <a:spLocks/>
          </p:cNvSpPr>
          <p:nvPr/>
        </p:nvSpPr>
        <p:spPr>
          <a:xfrm>
            <a:off x="1625176" y="2838388"/>
            <a:ext cx="8735325" cy="756568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accent1"/>
                </a:solidFill>
              </a:rPr>
              <a:t>OBJECTIVE</a:t>
            </a:r>
            <a:endParaRPr lang="en-PK" sz="3600" dirty="0">
              <a:solidFill>
                <a:schemeClr val="accent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DF0CE77-C18A-03C8-0C43-D2CD0A197162}"/>
              </a:ext>
            </a:extLst>
          </p:cNvPr>
          <p:cNvSpPr txBox="1">
            <a:spLocks/>
          </p:cNvSpPr>
          <p:nvPr/>
        </p:nvSpPr>
        <p:spPr>
          <a:xfrm>
            <a:off x="1643934" y="3704332"/>
            <a:ext cx="8914974" cy="1731888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cap="none" dirty="0">
                <a:solidFill>
                  <a:schemeClr val="tx1"/>
                </a:solidFill>
              </a:rPr>
              <a:t>Design and verify an efficient hardware architecture for Dilithium, implement key modules (polynomial arithmetic &amp; NTT), and evaluate latency, area, and power.</a:t>
            </a:r>
            <a:endParaRPr lang="en-PK" sz="2400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72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7BF68-23D5-1E25-4402-747CB0B44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630D81F-DD27-D0DC-A5BB-2B3A0AFAD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Methodology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5BA662F-8CDE-A7A0-F05D-50BAE0F37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Algorithm Analysis: Study reference C implementation to identify computational bottlenecks.</a:t>
            </a:r>
          </a:p>
          <a:p>
            <a:r>
              <a:rPr lang="en-US" sz="2100" dirty="0"/>
              <a:t>Architectural Decomposition: Break down key modules into dedicated hardware blocks</a:t>
            </a:r>
          </a:p>
          <a:p>
            <a:r>
              <a:rPr lang="en-US" sz="2100" dirty="0"/>
              <a:t>RTL Design &amp; Integration: Implement modules in Verilog and integrate into full hardware design.</a:t>
            </a:r>
          </a:p>
          <a:p>
            <a:r>
              <a:rPr lang="en-US" sz="2100" dirty="0"/>
              <a:t>Functional Verification: Testbench-driven simulation to ensure correctness.</a:t>
            </a:r>
          </a:p>
          <a:p>
            <a:r>
              <a:rPr lang="en-US" sz="2100" dirty="0"/>
              <a:t>Performance Evaluation: Use FPGA synthesis tools to measure Latency , Resource utilization and Power consumption</a:t>
            </a:r>
          </a:p>
          <a:p>
            <a:r>
              <a:rPr lang="en-US" sz="2100" dirty="0"/>
              <a:t>Research Hypothesis: Hardware acceleration significantly improves Dilithium performance compared to software on embedded processors.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A75BF6-9D2A-5604-59D4-BD4850818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schemes (RSA, ECC) rely on </a:t>
            </a: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math problems</a:t>
            </a: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242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1253C-61ED-95EB-83F6-02E88404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7892D-7999-15A6-E547-43B3116D9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52" y="0"/>
            <a:ext cx="8735325" cy="756568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</a:rPr>
              <a:t>GANTT CHART</a:t>
            </a:r>
            <a:endParaRPr lang="en-PK" sz="3600" dirty="0">
              <a:solidFill>
                <a:schemeClr val="accent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62977B-5F06-12E1-E0CA-469A0EF30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48" y="775054"/>
            <a:ext cx="7692684" cy="575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796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3FD9F-2D9F-8CD7-F1BD-23020CE94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D5AFC0B-E497-1E04-00E8-B53B0FF9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References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345B905-960D-ADB2-C6E8-FA27E4FF5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4391499"/>
          </a:xfrm>
        </p:spPr>
        <p:txBody>
          <a:bodyPr>
            <a:normAutofit/>
          </a:bodyPr>
          <a:lstStyle/>
          <a:p>
            <a:endParaRPr lang="en-US" sz="2100" dirty="0"/>
          </a:p>
          <a:p>
            <a:pPr marL="457200" indent="-457200">
              <a:buFont typeface="+mj-lt"/>
              <a:buAutoNum type="arabicPeriod"/>
            </a:pPr>
            <a:r>
              <a:rPr lang="en-US" sz="2100" dirty="0"/>
              <a:t>National Institute of Standards and Technology, Post Quantum Cryptography Standardization Project, NIST, 2022.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/>
              <a:t>Ducas, L., Kiltz, E., </a:t>
            </a:r>
            <a:r>
              <a:rPr lang="en-US" sz="2100" dirty="0" err="1"/>
              <a:t>Lepoint</a:t>
            </a:r>
            <a:r>
              <a:rPr lang="en-US" sz="2100" dirty="0"/>
              <a:t>, T., </a:t>
            </a:r>
            <a:r>
              <a:rPr lang="en-US" sz="2100" dirty="0" err="1"/>
              <a:t>Lyubashevsky</a:t>
            </a:r>
            <a:r>
              <a:rPr lang="en-US" sz="2100" dirty="0"/>
              <a:t>, V., Schwabe, P., Seiler, G., and </a:t>
            </a:r>
            <a:r>
              <a:rPr lang="en-US" sz="2100" dirty="0" err="1"/>
              <a:t>Stehlé</a:t>
            </a:r>
            <a:r>
              <a:rPr lang="en-US" sz="2100" dirty="0"/>
              <a:t>, D., CRYSTALS Dilithium: Algorithm Specifications and Supporting Documentation, NIST PQC Round 3, 2020.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/>
              <a:t>Bernstein, D. J., Buchmann, J., and Dahmen, E., Post Quantum Cryptography, Springer, Berlin, 2009. </a:t>
            </a:r>
          </a:p>
          <a:p>
            <a:pPr marL="0" indent="0">
              <a:buNone/>
            </a:pPr>
            <a:endParaRPr lang="en-US" sz="2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70959D-A723-FE5A-BB7D-4D67BA45C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schemes (RSA, ECC) rely on </a:t>
            </a: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 math problems</a:t>
            </a: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358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655D6-5057-6B8B-D43F-AF007EACF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068" y="2204864"/>
            <a:ext cx="5832647" cy="1512168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THANK YOU ! </a:t>
            </a:r>
            <a:r>
              <a:rPr lang="en-US" sz="6600" dirty="0">
                <a:solidFill>
                  <a:schemeClr val="accent1">
                    <a:lumMod val="20000"/>
                    <a:lumOff val="80000"/>
                  </a:schemeClr>
                </a:solidFill>
                <a:sym typeface="Wingdings" panose="05000000000000000000" pitchFamily="2" charset="2"/>
              </a:rPr>
              <a:t></a:t>
            </a:r>
            <a:endParaRPr lang="en-PK" sz="6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822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206</TotalTime>
  <Words>606</Words>
  <Application>Microsoft Office PowerPoint</Application>
  <PresentationFormat>Custom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Tech 16x9</vt:lpstr>
      <vt:lpstr>Hardware Design and Verification of Dilithium – Post Quantum Digital Signature Algorithm</vt:lpstr>
      <vt:lpstr> Background</vt:lpstr>
      <vt:lpstr>What is Dilithium?</vt:lpstr>
      <vt:lpstr> What makes Dilithium post-quantum?</vt:lpstr>
      <vt:lpstr> Literature Review</vt:lpstr>
      <vt:lpstr>PROBLEM STATEMENT</vt:lpstr>
      <vt:lpstr> Methodology</vt:lpstr>
      <vt:lpstr>GANTT CHART</vt:lpstr>
      <vt:lpstr> References</vt:lpstr>
      <vt:lpstr>THANK YOU !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Abdul Ahad</dc:creator>
  <cp:lastModifiedBy>Muhammad Abdul Ahad</cp:lastModifiedBy>
  <cp:revision>13</cp:revision>
  <dcterms:created xsi:type="dcterms:W3CDTF">2026-01-21T20:32:26Z</dcterms:created>
  <dcterms:modified xsi:type="dcterms:W3CDTF">2026-01-21T23:59:19Z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